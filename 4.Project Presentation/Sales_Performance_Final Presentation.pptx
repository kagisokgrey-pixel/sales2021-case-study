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(R millions)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Dec13</c:v>
                  </c:pt>
                  <c:pt idx="1">
                    <c:v>Jan14</c:v>
                  </c:pt>
                  <c:pt idx="2">
                    <c:v>Feb14</c:v>
                  </c:pt>
                  <c:pt idx="3">
                    <c:v>Mar14</c:v>
                  </c:pt>
                  <c:pt idx="4">
                    <c:v>Apr14</c:v>
                  </c:pt>
                  <c:pt idx="5">
                    <c:v>May14</c:v>
                  </c:pt>
                  <c:pt idx="6">
                    <c:v>Jun14</c:v>
                  </c:pt>
                  <c:pt idx="7">
                    <c:v>Jul14</c:v>
                  </c:pt>
                  <c:pt idx="8">
                    <c:v>Aug14</c:v>
                  </c:pt>
                  <c:pt idx="9">
                    <c:v>Sep14</c:v>
                  </c:pt>
                  <c:pt idx="10">
                    <c:v>Oct14</c:v>
                  </c:pt>
                  <c:pt idx="11">
                    <c:v>Nov14</c:v>
                  </c:pt>
                  <c:pt idx="12">
                    <c:v>Dec14</c:v>
                  </c:pt>
                  <c:pt idx="13">
                    <c:v>Jan15</c:v>
                  </c:pt>
                  <c:pt idx="14">
                    <c:v>Feb15</c:v>
                  </c:pt>
                  <c:pt idx="15">
                    <c:v>Mar15</c:v>
                  </c:pt>
                  <c:pt idx="16">
                    <c:v>Apr15</c:v>
                  </c:pt>
                  <c:pt idx="17">
                    <c:v>May15</c:v>
                  </c:pt>
                  <c:pt idx="18">
                    <c:v>Jun15</c:v>
                  </c:pt>
                  <c:pt idx="19">
                    <c:v>Jul15</c:v>
                  </c:pt>
                  <c:pt idx="20">
                    <c:v>Aug15</c:v>
                  </c:pt>
                  <c:pt idx="21">
                    <c:v>Sep15</c:v>
                  </c:pt>
                  <c:pt idx="22">
                    <c:v>Oct15</c:v>
                  </c:pt>
                  <c:pt idx="23">
                    <c:v>Nov15</c:v>
                  </c:pt>
                  <c:pt idx="24">
                    <c:v>Dec15</c:v>
                  </c:pt>
                  <c:pt idx="25">
                    <c:v>Jan16</c:v>
                  </c:pt>
                  <c:pt idx="26">
                    <c:v>Feb16</c:v>
                  </c:pt>
                  <c:pt idx="27">
                    <c:v>Mar16</c:v>
                  </c:pt>
                  <c:pt idx="28">
                    <c:v>Apr16</c:v>
                  </c:pt>
                  <c:pt idx="29">
                    <c:v>May16</c:v>
                  </c:pt>
                  <c:pt idx="30">
                    <c:v>Jun16</c:v>
                  </c:pt>
                  <c:pt idx="31">
                    <c:v>Jul16</c:v>
                  </c:pt>
                  <c:pt idx="32">
                    <c:v>Aug16</c:v>
                  </c:pt>
                  <c:pt idx="33">
                    <c:v>Sep16</c:v>
                  </c:pt>
                  <c:pt idx="34">
                    <c:v>Oct16</c:v>
                  </c:pt>
                  <c:pt idx="35">
                    <c:v>Nov16</c:v>
                  </c:pt>
                </c:lvl>
              </c:multiLvlStrCache>
            </c:multiLvl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0.52</c:v>
                </c:pt>
                <c:pt idx="1">
                  <c:v>4.01</c:v>
                </c:pt>
                <c:pt idx="2">
                  <c:v>5.78</c:v>
                </c:pt>
                <c:pt idx="3">
                  <c:v>8.28</c:v>
                </c:pt>
                <c:pt idx="4">
                  <c:v>6.44</c:v>
                </c:pt>
                <c:pt idx="5">
                  <c:v>7.69</c:v>
                </c:pt>
                <c:pt idx="6">
                  <c:v>6.46</c:v>
                </c:pt>
                <c:pt idx="7">
                  <c:v>4.93</c:v>
                </c:pt>
                <c:pt idx="8">
                  <c:v>10.01</c:v>
                </c:pt>
                <c:pt idx="9">
                  <c:v>7.64</c:v>
                </c:pt>
                <c:pt idx="10">
                  <c:v>5.92</c:v>
                </c:pt>
                <c:pt idx="11">
                  <c:v>2.63</c:v>
                </c:pt>
                <c:pt idx="12">
                  <c:v>5.62</c:v>
                </c:pt>
                <c:pt idx="13">
                  <c:v>3.7</c:v>
                </c:pt>
                <c:pt idx="14">
                  <c:v>4.9</c:v>
                </c:pt>
                <c:pt idx="15">
                  <c:v>5.27</c:v>
                </c:pt>
                <c:pt idx="16">
                  <c:v>5.96</c:v>
                </c:pt>
                <c:pt idx="17">
                  <c:v>8.38</c:v>
                </c:pt>
                <c:pt idx="18">
                  <c:v>5.33</c:v>
                </c:pt>
                <c:pt idx="19">
                  <c:v>3.68</c:v>
                </c:pt>
                <c:pt idx="20">
                  <c:v>3.93</c:v>
                </c:pt>
                <c:pt idx="21">
                  <c:v>4.67</c:v>
                </c:pt>
                <c:pt idx="22">
                  <c:v>4.83</c:v>
                </c:pt>
                <c:pt idx="23">
                  <c:v>6.54</c:v>
                </c:pt>
                <c:pt idx="24">
                  <c:v>6.82</c:v>
                </c:pt>
                <c:pt idx="25">
                  <c:v>5.4</c:v>
                </c:pt>
                <c:pt idx="26">
                  <c:v>4.89</c:v>
                </c:pt>
                <c:pt idx="27">
                  <c:v>2.95</c:v>
                </c:pt>
                <c:pt idx="28">
                  <c:v>6.66</c:v>
                </c:pt>
                <c:pt idx="29">
                  <c:v>5.17</c:v>
                </c:pt>
                <c:pt idx="30">
                  <c:v>6.77</c:v>
                </c:pt>
                <c:pt idx="31">
                  <c:v>3.32</c:v>
                </c:pt>
                <c:pt idx="32">
                  <c:v>4.34</c:v>
                </c:pt>
                <c:pt idx="33">
                  <c:v>3.26</c:v>
                </c:pt>
                <c:pt idx="34">
                  <c:v>2.33</c:v>
                </c:pt>
                <c:pt idx="35">
                  <c:v>1.85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 (R millions)</c:v>
                </c:pt>
              </c:strCache>
            </c:strRef>
          </c:tx>
          <c:spPr>
            <a:solidFill>
              <a:srgbClr val="ED7D31"/>
            </a:solidFill>
            <a:ln w="31750" cap="flat">
              <a:solidFill>
                <a:srgbClr val="ED7D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D7D31"/>
              </a:solidFill>
              <a:ln w="9525" cap="flat">
                <a:solidFill>
                  <a:srgbClr val="ED7D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Dec13</c:v>
                  </c:pt>
                  <c:pt idx="1">
                    <c:v>Jan14</c:v>
                  </c:pt>
                  <c:pt idx="2">
                    <c:v>Feb14</c:v>
                  </c:pt>
                  <c:pt idx="3">
                    <c:v>Mar14</c:v>
                  </c:pt>
                  <c:pt idx="4">
                    <c:v>Apr14</c:v>
                  </c:pt>
                  <c:pt idx="5">
                    <c:v>May14</c:v>
                  </c:pt>
                  <c:pt idx="6">
                    <c:v>Jun14</c:v>
                  </c:pt>
                  <c:pt idx="7">
                    <c:v>Jul14</c:v>
                  </c:pt>
                  <c:pt idx="8">
                    <c:v>Aug14</c:v>
                  </c:pt>
                  <c:pt idx="9">
                    <c:v>Sep14</c:v>
                  </c:pt>
                  <c:pt idx="10">
                    <c:v>Oct14</c:v>
                  </c:pt>
                  <c:pt idx="11">
                    <c:v>Nov14</c:v>
                  </c:pt>
                  <c:pt idx="12">
                    <c:v>Dec14</c:v>
                  </c:pt>
                  <c:pt idx="13">
                    <c:v>Jan15</c:v>
                  </c:pt>
                  <c:pt idx="14">
                    <c:v>Feb15</c:v>
                  </c:pt>
                  <c:pt idx="15">
                    <c:v>Mar15</c:v>
                  </c:pt>
                  <c:pt idx="16">
                    <c:v>Apr15</c:v>
                  </c:pt>
                  <c:pt idx="17">
                    <c:v>May15</c:v>
                  </c:pt>
                  <c:pt idx="18">
                    <c:v>Jun15</c:v>
                  </c:pt>
                  <c:pt idx="19">
                    <c:v>Jul15</c:v>
                  </c:pt>
                  <c:pt idx="20">
                    <c:v>Aug15</c:v>
                  </c:pt>
                  <c:pt idx="21">
                    <c:v>Sep15</c:v>
                  </c:pt>
                  <c:pt idx="22">
                    <c:v>Oct15</c:v>
                  </c:pt>
                  <c:pt idx="23">
                    <c:v>Nov15</c:v>
                  </c:pt>
                  <c:pt idx="24">
                    <c:v>Dec15</c:v>
                  </c:pt>
                  <c:pt idx="25">
                    <c:v>Jan16</c:v>
                  </c:pt>
                  <c:pt idx="26">
                    <c:v>Feb16</c:v>
                  </c:pt>
                  <c:pt idx="27">
                    <c:v>Mar16</c:v>
                  </c:pt>
                  <c:pt idx="28">
                    <c:v>Apr16</c:v>
                  </c:pt>
                  <c:pt idx="29">
                    <c:v>May16</c:v>
                  </c:pt>
                  <c:pt idx="30">
                    <c:v>Jun16</c:v>
                  </c:pt>
                  <c:pt idx="31">
                    <c:v>Jul16</c:v>
                  </c:pt>
                  <c:pt idx="32">
                    <c:v>Aug16</c:v>
                  </c:pt>
                  <c:pt idx="33">
                    <c:v>Sep16</c:v>
                  </c:pt>
                  <c:pt idx="34">
                    <c:v>Oct16</c:v>
                  </c:pt>
                  <c:pt idx="35">
                    <c:v>Nov16</c:v>
                  </c:pt>
                </c:lvl>
              </c:multiLvlStrCache>
            </c:multiLvlStrRef>
          </c:cat>
          <c:val>
            <c:numRef>
              <c:f>Sheet1!$C$2:$C$37</c:f>
              <c:numCache>
                <c:formatCode>General</c:formatCode>
                <c:ptCount val="36"/>
                <c:pt idx="0">
                  <c:v>-0.01</c:v>
                </c:pt>
                <c:pt idx="1">
                  <c:v>0.01</c:v>
                </c:pt>
                <c:pt idx="2">
                  <c:v>-0.13</c:v>
                </c:pt>
                <c:pt idx="3">
                  <c:v>-0.14</c:v>
                </c:pt>
                <c:pt idx="4">
                  <c:v>-0.04</c:v>
                </c:pt>
                <c:pt idx="5">
                  <c:v>-0.32</c:v>
                </c:pt>
                <c:pt idx="6">
                  <c:v>-0.19</c:v>
                </c:pt>
                <c:pt idx="7">
                  <c:v>-0.07</c:v>
                </c:pt>
                <c:pt idx="8">
                  <c:v>-0.51</c:v>
                </c:pt>
                <c:pt idx="9">
                  <c:v>-0.55</c:v>
                </c:pt>
                <c:pt idx="10">
                  <c:v>-0.11</c:v>
                </c:pt>
                <c:pt idx="11">
                  <c:v>0.11</c:v>
                </c:pt>
                <c:pt idx="12">
                  <c:v>-0.32</c:v>
                </c:pt>
                <c:pt idx="13">
                  <c:v>-0.16</c:v>
                </c:pt>
                <c:pt idx="14">
                  <c:v>-0.25</c:v>
                </c:pt>
                <c:pt idx="15">
                  <c:v>-0.33</c:v>
                </c:pt>
                <c:pt idx="16">
                  <c:v>-0.32</c:v>
                </c:pt>
                <c:pt idx="17">
                  <c:v>-0.59</c:v>
                </c:pt>
                <c:pt idx="18">
                  <c:v>-0.19</c:v>
                </c:pt>
                <c:pt idx="19">
                  <c:v>-0.15</c:v>
                </c:pt>
                <c:pt idx="20">
                  <c:v>-0.28</c:v>
                </c:pt>
                <c:pt idx="21">
                  <c:v>-0.35</c:v>
                </c:pt>
                <c:pt idx="22">
                  <c:v>-0.35</c:v>
                </c:pt>
                <c:pt idx="23">
                  <c:v>-0.6</c:v>
                </c:pt>
                <c:pt idx="24">
                  <c:v>-0.33</c:v>
                </c:pt>
                <c:pt idx="25">
                  <c:v>-0.25</c:v>
                </c:pt>
                <c:pt idx="26">
                  <c:v>0.003</c:v>
                </c:pt>
                <c:pt idx="27">
                  <c:v>0.03</c:v>
                </c:pt>
                <c:pt idx="28">
                  <c:v>-0.47</c:v>
                </c:pt>
                <c:pt idx="29">
                  <c:v>-0.17</c:v>
                </c:pt>
                <c:pt idx="30">
                  <c:v>-0.4</c:v>
                </c:pt>
                <c:pt idx="31">
                  <c:v>0.06</c:v>
                </c:pt>
                <c:pt idx="32">
                  <c:v>-0.14</c:v>
                </c:pt>
                <c:pt idx="33">
                  <c:v>0.05</c:v>
                </c:pt>
                <c:pt idx="34">
                  <c:v>0.22</c:v>
                </c:pt>
                <c:pt idx="35">
                  <c:v>0.13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6E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-1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E7280"/>
                    </a:solidFill>
                    <a:latin typeface="Arial"/>
                  </a:rPr>
                  <a:t>R millions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Profitable months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Sheet1!$A$2:$A$37</c:f>
              <c:multiLvlStrCache>
                <c:ptCount val="36"/>
                <c:lvl>
                  <c:pt idx="0">
                    <c:v>Dec13</c:v>
                  </c:pt>
                  <c:pt idx="1">
                    <c:v>Jan14</c:v>
                  </c:pt>
                  <c:pt idx="2">
                    <c:v>Feb14</c:v>
                  </c:pt>
                  <c:pt idx="3">
                    <c:v>Mar14</c:v>
                  </c:pt>
                  <c:pt idx="4">
                    <c:v>Apr14</c:v>
                  </c:pt>
                  <c:pt idx="5">
                    <c:v>May14</c:v>
                  </c:pt>
                  <c:pt idx="6">
                    <c:v>Jun14</c:v>
                  </c:pt>
                  <c:pt idx="7">
                    <c:v>Jul14</c:v>
                  </c:pt>
                  <c:pt idx="8">
                    <c:v>Aug14</c:v>
                  </c:pt>
                  <c:pt idx="9">
                    <c:v>Sep14</c:v>
                  </c:pt>
                  <c:pt idx="10">
                    <c:v>Oct14</c:v>
                  </c:pt>
                  <c:pt idx="11">
                    <c:v>Nov14</c:v>
                  </c:pt>
                  <c:pt idx="12">
                    <c:v>Dec14</c:v>
                  </c:pt>
                  <c:pt idx="13">
                    <c:v>Jan15</c:v>
                  </c:pt>
                  <c:pt idx="14">
                    <c:v>Feb15</c:v>
                  </c:pt>
                  <c:pt idx="15">
                    <c:v>Mar15</c:v>
                  </c:pt>
                  <c:pt idx="16">
                    <c:v>Apr15</c:v>
                  </c:pt>
                  <c:pt idx="17">
                    <c:v>May15</c:v>
                  </c:pt>
                  <c:pt idx="18">
                    <c:v>Jun15</c:v>
                  </c:pt>
                  <c:pt idx="19">
                    <c:v>Jul15</c:v>
                  </c:pt>
                  <c:pt idx="20">
                    <c:v>Aug15</c:v>
                  </c:pt>
                  <c:pt idx="21">
                    <c:v>Sep15</c:v>
                  </c:pt>
                  <c:pt idx="22">
                    <c:v>Oct15</c:v>
                  </c:pt>
                  <c:pt idx="23">
                    <c:v>Nov15</c:v>
                  </c:pt>
                  <c:pt idx="24">
                    <c:v>Dec15</c:v>
                  </c:pt>
                  <c:pt idx="25">
                    <c:v>Jan16</c:v>
                  </c:pt>
                  <c:pt idx="26">
                    <c:v>Feb16</c:v>
                  </c:pt>
                  <c:pt idx="27">
                    <c:v>Mar16</c:v>
                  </c:pt>
                  <c:pt idx="28">
                    <c:v>Apr16</c:v>
                  </c:pt>
                  <c:pt idx="29">
                    <c:v>May16</c:v>
                  </c:pt>
                  <c:pt idx="30">
                    <c:v>Jun16</c:v>
                  </c:pt>
                  <c:pt idx="31">
                    <c:v>Jul16</c:v>
                  </c:pt>
                  <c:pt idx="32">
                    <c:v>Aug16</c:v>
                  </c:pt>
                  <c:pt idx="33">
                    <c:v>Sep16</c:v>
                  </c:pt>
                  <c:pt idx="34">
                    <c:v>Oct16</c:v>
                  </c:pt>
                  <c:pt idx="35">
                    <c:v>Nov16</c:v>
                  </c:pt>
                </c:lvl>
              </c:multiLvlStrCache>
            </c:multiLvl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/>
                </c:pt>
                <c:pt idx="1">
                  <c:v>0.31</c:v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>4.34</c:v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>0.05</c:v>
                </c:pt>
                <c:pt idx="27">
                  <c:v>1.15</c:v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>1.7</c:v>
                </c:pt>
                <c:pt idx="32">
                  <c:v/>
                </c:pt>
                <c:pt idx="33">
                  <c:v>1.51</c:v>
                </c:pt>
                <c:pt idx="34">
                  <c:v>9.44</c:v>
                </c:pt>
                <c:pt idx="35">
                  <c:v>6.84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Loss-making months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Sheet1!$A$2:$A$37</c:f>
              <c:multiLvlStrCache>
                <c:ptCount val="36"/>
                <c:lvl>
                  <c:pt idx="0">
                    <c:v>Dec13</c:v>
                  </c:pt>
                  <c:pt idx="1">
                    <c:v>Jan14</c:v>
                  </c:pt>
                  <c:pt idx="2">
                    <c:v>Feb14</c:v>
                  </c:pt>
                  <c:pt idx="3">
                    <c:v>Mar14</c:v>
                  </c:pt>
                  <c:pt idx="4">
                    <c:v>Apr14</c:v>
                  </c:pt>
                  <c:pt idx="5">
                    <c:v>May14</c:v>
                  </c:pt>
                  <c:pt idx="6">
                    <c:v>Jun14</c:v>
                  </c:pt>
                  <c:pt idx="7">
                    <c:v>Jul14</c:v>
                  </c:pt>
                  <c:pt idx="8">
                    <c:v>Aug14</c:v>
                  </c:pt>
                  <c:pt idx="9">
                    <c:v>Sep14</c:v>
                  </c:pt>
                  <c:pt idx="10">
                    <c:v>Oct14</c:v>
                  </c:pt>
                  <c:pt idx="11">
                    <c:v>Nov14</c:v>
                  </c:pt>
                  <c:pt idx="12">
                    <c:v>Dec14</c:v>
                  </c:pt>
                  <c:pt idx="13">
                    <c:v>Jan15</c:v>
                  </c:pt>
                  <c:pt idx="14">
                    <c:v>Feb15</c:v>
                  </c:pt>
                  <c:pt idx="15">
                    <c:v>Mar15</c:v>
                  </c:pt>
                  <c:pt idx="16">
                    <c:v>Apr15</c:v>
                  </c:pt>
                  <c:pt idx="17">
                    <c:v>May15</c:v>
                  </c:pt>
                  <c:pt idx="18">
                    <c:v>Jun15</c:v>
                  </c:pt>
                  <c:pt idx="19">
                    <c:v>Jul15</c:v>
                  </c:pt>
                  <c:pt idx="20">
                    <c:v>Aug15</c:v>
                  </c:pt>
                  <c:pt idx="21">
                    <c:v>Sep15</c:v>
                  </c:pt>
                  <c:pt idx="22">
                    <c:v>Oct15</c:v>
                  </c:pt>
                  <c:pt idx="23">
                    <c:v>Nov15</c:v>
                  </c:pt>
                  <c:pt idx="24">
                    <c:v>Dec15</c:v>
                  </c:pt>
                  <c:pt idx="25">
                    <c:v>Jan16</c:v>
                  </c:pt>
                  <c:pt idx="26">
                    <c:v>Feb16</c:v>
                  </c:pt>
                  <c:pt idx="27">
                    <c:v>Mar16</c:v>
                  </c:pt>
                  <c:pt idx="28">
                    <c:v>Apr16</c:v>
                  </c:pt>
                  <c:pt idx="29">
                    <c:v>May16</c:v>
                  </c:pt>
                  <c:pt idx="30">
                    <c:v>Jun16</c:v>
                  </c:pt>
                  <c:pt idx="31">
                    <c:v>Jul16</c:v>
                  </c:pt>
                  <c:pt idx="32">
                    <c:v>Aug16</c:v>
                  </c:pt>
                  <c:pt idx="33">
                    <c:v>Sep16</c:v>
                  </c:pt>
                  <c:pt idx="34">
                    <c:v>Oct16</c:v>
                  </c:pt>
                  <c:pt idx="35">
                    <c:v>Nov16</c:v>
                  </c:pt>
                </c:lvl>
              </c:multiLvlStrCache>
            </c:multiLvlStrRef>
          </c:cat>
          <c:val>
            <c:numRef>
              <c:f>Sheet1!$C$2:$C$37</c:f>
              <c:numCache>
                <c:formatCode>General</c:formatCode>
                <c:ptCount val="36"/>
                <c:pt idx="0">
                  <c:v>-2.44</c:v>
                </c:pt>
                <c:pt idx="1">
                  <c:v/>
                </c:pt>
                <c:pt idx="2">
                  <c:v>-2.3</c:v>
                </c:pt>
                <c:pt idx="3">
                  <c:v>-1.64</c:v>
                </c:pt>
                <c:pt idx="4">
                  <c:v>-0.68</c:v>
                </c:pt>
                <c:pt idx="5">
                  <c:v>-4.19</c:v>
                </c:pt>
                <c:pt idx="6">
                  <c:v>-2.93</c:v>
                </c:pt>
                <c:pt idx="7">
                  <c:v>-1.44</c:v>
                </c:pt>
                <c:pt idx="8">
                  <c:v>-5.14</c:v>
                </c:pt>
                <c:pt idx="9">
                  <c:v>-7.2</c:v>
                </c:pt>
                <c:pt idx="10">
                  <c:v>-1.92</c:v>
                </c:pt>
                <c:pt idx="11">
                  <c:v/>
                </c:pt>
                <c:pt idx="12">
                  <c:v>-5.68</c:v>
                </c:pt>
                <c:pt idx="13">
                  <c:v>-4.2</c:v>
                </c:pt>
                <c:pt idx="14">
                  <c:v>-5.11</c:v>
                </c:pt>
                <c:pt idx="15">
                  <c:v>-6.27</c:v>
                </c:pt>
                <c:pt idx="16">
                  <c:v>-5.41</c:v>
                </c:pt>
                <c:pt idx="17">
                  <c:v>-7.03</c:v>
                </c:pt>
                <c:pt idx="18">
                  <c:v>-3.54</c:v>
                </c:pt>
                <c:pt idx="19">
                  <c:v>-4.12</c:v>
                </c:pt>
                <c:pt idx="20">
                  <c:v>-7.02</c:v>
                </c:pt>
                <c:pt idx="21">
                  <c:v>-7.59</c:v>
                </c:pt>
                <c:pt idx="22">
                  <c:v>-7.18</c:v>
                </c:pt>
                <c:pt idx="23">
                  <c:v>-9.19</c:v>
                </c:pt>
                <c:pt idx="24">
                  <c:v>-4.89</c:v>
                </c:pt>
                <c:pt idx="25">
                  <c:v>-4.71</c:v>
                </c:pt>
                <c:pt idx="26">
                  <c:v/>
                </c:pt>
                <c:pt idx="27">
                  <c:v/>
                </c:pt>
                <c:pt idx="28">
                  <c:v>-7.07</c:v>
                </c:pt>
                <c:pt idx="29">
                  <c:v>-3.25</c:v>
                </c:pt>
                <c:pt idx="30">
                  <c:v>-5.87</c:v>
                </c:pt>
                <c:pt idx="31">
                  <c:v/>
                </c:pt>
                <c:pt idx="32">
                  <c:v>-3.14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6E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E7280"/>
                    </a:solidFill>
                    <a:latin typeface="Arial"/>
                  </a:rPr>
                  <a:t>Gross Profit %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(R millions)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&quot;R&quot;0.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2013</c:v>
                  </c:pt>
                  <c:pt idx="1">
                    <c:v>2014</c:v>
                  </c:pt>
                  <c:pt idx="2">
                    <c:v>2015</c:v>
                  </c:pt>
                  <c:pt idx="3">
                    <c:v>2016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75.4</c:v>
                </c:pt>
                <c:pt idx="2">
                  <c:v>64</c:v>
                </c:pt>
                <c:pt idx="3">
                  <c:v>47</c:v>
                </c:pt>
              </c:numCache>
            </c:numRef>
          </c:val>
        </c:ser>
        <c:dLbls>
          <c:numFmt formatCode="&quot;R&quot;0.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E728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E7280"/>
                    </a:solidFill>
                    <a:latin typeface="Arial"/>
                  </a:rPr>
                  <a:t>R millions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Weekday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156313</c:v>
                </c:pt>
                <c:pt idx="1">
                  <c:v>137315</c:v>
                </c:pt>
                <c:pt idx="2">
                  <c:v>145891</c:v>
                </c:pt>
                <c:pt idx="3">
                  <c:v>141085</c:v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Fri / Weekend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245314</c:v>
                </c:pt>
                <c:pt idx="5">
                  <c:v>279047</c:v>
                </c:pt>
                <c:pt idx="6">
                  <c:v>138171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E728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E7280"/>
                    </a:solidFill>
                    <a:latin typeface="Arial"/>
                  </a:rPr>
                  <a:t>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Promotional day</c:v>
                </c:pt>
              </c:strCache>
            </c:strRef>
          </c:tx>
          <c:spPr>
            <a:solidFill>
              <a:srgbClr val="9DB4E8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9DB4E8"/>
              </a:solidFill>
              <a:ln w="9525" cap="flat">
                <a:solidFill>
                  <a:srgbClr val="9DB4E8"/>
                </a:solidFill>
                <a:prstDash val="solid"/>
                <a:round/>
              </a:ln>
              <a:effectLst/>
            </c:spPr>
          </c:marker>
          <c:xVal>
            <c:numRef>
              <c:f>Sheet1!$A$2:$A$46</c:f>
              <c:numCache>
                <c:formatCode>General</c:formatCode>
                <c:ptCount val="45"/>
                <c:pt idx="0">
                  <c:v>11000</c:v>
                </c:pt>
                <c:pt idx="1">
                  <c:v>15000</c:v>
                </c:pt>
                <c:pt idx="2">
                  <c:v>8000</c:v>
                </c:pt>
                <c:pt idx="3">
                  <c:v>18000</c:v>
                </c:pt>
                <c:pt idx="4">
                  <c:v>9500</c:v>
                </c:pt>
                <c:pt idx="5">
                  <c:v>6500</c:v>
                </c:pt>
                <c:pt idx="6">
                  <c:v>5000</c:v>
                </c:pt>
                <c:pt idx="7">
                  <c:v>4200</c:v>
                </c:pt>
                <c:pt idx="8">
                  <c:v>3800</c:v>
                </c:pt>
                <c:pt idx="9">
                  <c:v>3200</c:v>
                </c:pt>
                <c:pt idx="10">
                  <c:v>2800</c:v>
                </c:pt>
                <c:pt idx="11">
                  <c:v>2200</c:v>
                </c:pt>
                <c:pt idx="12">
                  <c:v>2000</c:v>
                </c:pt>
                <c:pt idx="13">
                  <c:v>1800</c:v>
                </c:pt>
                <c:pt idx="14">
                  <c:v>1600</c:v>
                </c:pt>
                <c:pt idx="15">
                  <c:v>1500</c:v>
                </c:pt>
                <c:pt idx="16">
                  <c:v>1400</c:v>
                </c:pt>
                <c:pt idx="17">
                  <c:v>1300</c:v>
                </c:pt>
                <c:pt idx="18">
                  <c:v>1200</c:v>
                </c:pt>
                <c:pt idx="19">
                  <c:v>1100</c:v>
                </c:pt>
                <c:pt idx="20">
                  <c:v>1000</c:v>
                </c:pt>
                <c:pt idx="21">
                  <c:v>900</c:v>
                </c:pt>
                <c:pt idx="22">
                  <c:v>850</c:v>
                </c:pt>
                <c:pt idx="23">
                  <c:v>17500</c:v>
                </c:pt>
                <c:pt idx="24">
                  <c:v>7200</c:v>
                </c:pt>
                <c:pt idx="25">
                  <c:v>5800</c:v>
                </c:pt>
                <c:pt idx="26">
                  <c:v>4600</c:v>
                </c:pt>
                <c:pt idx="27">
                  <c:v>3500</c:v>
                </c:pt>
                <c:pt idx="28">
                  <c:v>2400</c:v>
                </c:pt>
                <c:pt idx="29">
                  <c:v>1900</c:v>
                </c:pt>
                <c:pt idx="30">
                  <c:v>1700</c:v>
                </c:pt>
                <c:pt idx="31">
                  <c:v>1350</c:v>
                </c:pt>
                <c:pt idx="32">
                  <c:v>1150</c:v>
                </c:pt>
                <c:pt idx="33">
                  <c:v>950</c:v>
                </c:pt>
                <c:pt idx="34">
                  <c:v>20000</c:v>
                </c:pt>
                <c:pt idx="35">
                  <c:v>9000</c:v>
                </c:pt>
                <c:pt idx="36">
                  <c:v>6200</c:v>
                </c:pt>
                <c:pt idx="37">
                  <c:v>4900</c:v>
                </c:pt>
                <c:pt idx="38">
                  <c:v>3700</c:v>
                </c:pt>
                <c:pt idx="39">
                  <c:v>2600</c:v>
                </c:pt>
                <c:pt idx="40">
                  <c:v>2100</c:v>
                </c:pt>
                <c:pt idx="41">
                  <c:v>1750</c:v>
                </c:pt>
                <c:pt idx="42">
                  <c:v>1450</c:v>
                </c:pt>
                <c:pt idx="43">
                  <c:v>1250</c:v>
                </c:pt>
                <c:pt idx="44">
                  <c:v>1050</c:v>
                </c:pt>
              </c:numCache>
            </c:numRef>
          </c:xVal>
          <c:yVal>
            <c:numRef>
              <c:f>Sheet1!$B$2:$B$46</c:f>
              <c:numCache>
                <c:formatCode>General</c:formatCode>
                <c:ptCount val="45"/>
                <c:pt idx="0">
                  <c:v>19200</c:v>
                </c:pt>
                <c:pt idx="1">
                  <c:v>23200</c:v>
                </c:pt>
                <c:pt idx="2">
                  <c:v>15000</c:v>
                </c:pt>
                <c:pt idx="3">
                  <c:v>11000</c:v>
                </c:pt>
                <c:pt idx="4">
                  <c:v>10500</c:v>
                </c:pt>
                <c:pt idx="5">
                  <c:v>9200</c:v>
                </c:pt>
                <c:pt idx="6">
                  <c:v>8500</c:v>
                </c:pt>
                <c:pt idx="7">
                  <c:v>7900</c:v>
                </c:pt>
                <c:pt idx="8">
                  <c:v>6300</c:v>
                </c:pt>
                <c:pt idx="9">
                  <c:v>4200</c:v>
                </c:pt>
                <c:pt idx="10">
                  <c:v>4600</c:v>
                </c:pt>
                <c:pt idx="11">
                  <c:v>9500</c:v>
                </c:pt>
                <c:pt idx="12">
                  <c:v>6600</c:v>
                </c:pt>
                <c:pt idx="13">
                  <c:v>9700</c:v>
                </c:pt>
                <c:pt idx="14">
                  <c:v>6500</c:v>
                </c:pt>
                <c:pt idx="15">
                  <c:v>17500</c:v>
                </c:pt>
                <c:pt idx="16">
                  <c:v>13500</c:v>
                </c:pt>
                <c:pt idx="17">
                  <c:v>10800</c:v>
                </c:pt>
                <c:pt idx="18">
                  <c:v>7000</c:v>
                </c:pt>
                <c:pt idx="19">
                  <c:v>5300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E7280"/>
                    </a:solidFill>
                    <a:latin typeface="Arial"/>
                  </a:rPr>
                  <a:t>Price per Unit (R)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E7280"/>
                    </a:solidFill>
                    <a:latin typeface="Arial"/>
                  </a:rPr>
                  <a:t>Quantity Sold (units)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Non-Promo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&quot;R&quot;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Non-Promo</c:v>
                  </c:pt>
                  <c:pt idx="1">
                    <c:v>Promo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37.3</c:v>
                </c:pt>
                <c:pt idx="1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Promo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&quot;R&quot;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Non-Promo</c:v>
                  </c:pt>
                  <c:pt idx="1">
                    <c:v>Promo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/>
                </c:pt>
                <c:pt idx="1">
                  <c:v>35.1</c:v>
                </c:pt>
              </c:numCache>
            </c:numRef>
          </c:val>
        </c:ser>
        <c:dLbls>
          <c:numFmt formatCode="&quot;R&quot;0.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Non-Promo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Non-Promo</c:v>
                  </c:pt>
                  <c:pt idx="1">
                    <c:v>Promo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4635</c:v>
                </c:pt>
                <c:pt idx="1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Promo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Non-Promo</c:v>
                  </c:pt>
                  <c:pt idx="1">
                    <c:v>Promo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/>
                </c:pt>
                <c:pt idx="1">
                  <c:v>7754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Non-Promo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Non-Promo</c:v>
                  </c:pt>
                  <c:pt idx="1">
                    <c:v>Promo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0.04</c:v>
                </c:pt>
                <c:pt idx="1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Promo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Non-Promo</c:v>
                  </c:pt>
                  <c:pt idx="1">
                    <c:v>Promo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/>
                </c:pt>
                <c:pt idx="1">
                  <c:v>-7.52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sales-pulse-dash-43.lovable.app" TargetMode="External"/><Relationship Id="rId3" Type="http://schemas.openxmlformats.org/officeDocument/2006/relationships/hyperlink" Target="https://sales-pulse-dash-43.lovable.app" TargetMode="External"/><Relationship Id="rId2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chart" Target="/ppt/charts/chart8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263173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6317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DASHBOARD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Product Case Study — Single Retail Store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December 2013 – 16 November 2016   |   1,053 Trading Days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486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574243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Kagiso Matenchi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Interactive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full dataset yourself — filters, drill-downs, and live charts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6949440" cy="4480560"/>
          </a:xfrm>
          <a:prstGeom prst="roundRect">
            <a:avLst>
              <a:gd name="adj" fmla="val 1633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dashboard online:</a:t>
            </a:r>
            <a:endParaRPr lang="en-US" sz="1300" dirty="0"/>
          </a:p>
        </p:txBody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822960" y="219456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sng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sales-pulse-dash-43.lovable.app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6217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 cards that recalculate as you filter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vs Gross Profit, and GP% trend charts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elasticity explorer for any date range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Quantity scatter with correlation stats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own CSV/Excel — nothing leaves your browser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80960" y="1554480"/>
            <a:ext cx="4023360" cy="44805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</p:spPr>
      </p:sp>
      <p:pic>
        <p:nvPicPr>
          <p:cNvPr id="9" name="Image 0" descr="/home/claude/pptx_work/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965960"/>
            <a:ext cx="2651760" cy="2651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0" y="4709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open on your phone</a:t>
            </a:r>
            <a:endParaRPr lang="en-US" sz="1200" dirty="0"/>
          </a:p>
        </p:txBody>
      </p:sp>
      <p:sp>
        <p:nvSpPr>
          <p:cNvPr id="11" name="Text 8">
            <a:hlinkClick r:id="rId3" tooltip=""/>
          </p:cNvPr>
          <p:cNvSpPr/>
          <p:nvPr/>
        </p:nvSpPr>
        <p:spPr>
          <a:xfrm>
            <a:off x="7818120" y="5120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sales-pulse-dash-43.lovable.app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Case Study (cleaned)  |  30 Dec 2013 – 16 Nov 2016  |  Simulated data, one product, single retail store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536192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R186.9m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12140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2414016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daily sales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06624" y="137160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98064" y="1536192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5,279,872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98064" y="212140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 SOLD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98064" y="2414016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Units, all days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956048" y="137160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47488" y="1536192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-3.81%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47488" y="212140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GROSS PROFIT %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47488" y="2414016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GP / Total Sales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205472" y="137160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96912" y="1536192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R35.40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296912" y="212140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UNIT PRICE (weighted)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296912" y="2414016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/ Total Qty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454896" y="1371600"/>
            <a:ext cx="2084832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546336" y="1536192"/>
            <a:ext cx="1901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-0.87%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546336" y="212140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GROSS PROFIT 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546336" y="2414016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daily GP%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3063240"/>
            <a:ext cx="11247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ran at a slight overall loss (-3.8% gross profit), driven largely by heavy, deep-discount promotional activity through 2014–2015.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is recovering — 2016 is the first year with a positive average gross profit margin, and 4 of the last 5 months on record are profitable.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highly price elastic: price cuts of 10–15% during promotions drove 50–170% more units sold per day.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current discount depth cuts too deep into margin — every promotional period tested turned a positive baseline margin negative during the promotion itself.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test shallower promotional discounts — elasticity this high should still drive a strong volume response at a smaller markdown.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Case Study (cleaned)  |  30 Dec 2013 – 16 Nov 2016  |  Simulated data, one product, single retail store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Sales vs Gross Profit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trended down from a 2014 peak while gross profit gradually turned from loss to breakeven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112471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Case Study (cleaned)  |  30 Dec 2013 – 16 Nov 2016  |  Simulated data, one product, single retail store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Gross Profit % Trend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was consistently negative through 2014–2015 and turned sustainably positive from mid-2016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1124712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Case Study (cleaned)  |  30 Dec 2013 – 16 Nov 2016  |  Simulated data, one product, single retail store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Metrics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Questions 1–4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310896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502920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Daily Sales Price per 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Ranges R30.76 – R43.81/day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/ Quantity Sold, calculated per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Average Unit Sales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R37.07 (simple mean)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R35.40 (volume-weighted)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of daily price-per-unit; weighted = Total Sales / Total Qty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Daily % Gross 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Average: -0.87%/day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(Overall for period: -3.81%)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(Sales - Cost of Sales) / Sales, per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Daily % Gross Profit per 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Average: -0.87%/day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(identical to #3)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(Price/unit - Cost/unit) / Price/unit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Gross Profit % and Gross Profit % per Unit are algebraically identical — (Sales-Cost)/Sales simplifies to (Price-Cost)/Price — confirmed to a difference of under 1e-10 across all 1,053 days.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5257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was consistently negative through most of 2014–2015 and turned positive in select months from Feb 2016 onward, with sustained positive months in the second half of 2016 — the clearest sign of improving pricing/cost discipline in the dataset.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Case Study (cleaned)  |  30 Dec 2013 – 16 Nov 2016  |  Simulated data, one product, single retail store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Elasticity of Demand During Promotions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longest contiguous promotional runs, each benchmarked against a 30-day non-promotional baseline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63040"/>
          <a:ext cx="11521440" cy="1371600"/>
        </p:xfrm>
        <a:graphic>
          <a:graphicData uri="http://schemas.openxmlformats.org/drawingml/2006/table">
            <a:tbl>
              <a:tblPr/>
              <a:tblGrid>
                <a:gridCol w="502920"/>
                <a:gridCol w="1874520"/>
                <a:gridCol w="1005840"/>
                <a:gridCol w="960120"/>
                <a:gridCol w="914400"/>
                <a:gridCol w="1005840"/>
                <a:gridCol w="914400"/>
                <a:gridCol w="960120"/>
                <a:gridCol w="777240"/>
                <a:gridCol w="1051560"/>
                <a:gridCol w="96012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Price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 Price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%chg Price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Qty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 Qty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%chg Qty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GP%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 GP%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May – 03 Jun 2016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R38.11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R34.35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+52.5%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Sep – 02 Oct 2015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R37.95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R33.40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+170.8%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-14.27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– 30 Jan 2016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R40.16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R34.06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3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+147.7%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0632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on volume, worse on profit — in its current form.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3474720"/>
            <a:ext cx="11247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periods confirm highly elastic demand (PED between -5.3 and -14.3): a modest price cut consistently drives a large jump in units sold. However, gross profit % swings from positive in the baseline period (+2.0% to +4.6%) to clearly negative during the promotion itself (-5.9% to -13.1%) in every single case — the discount is deep enough to erase the margin gained from the extra volume. Given how elastic demand is, a smaller discount (roughly half the current depth) would likely retain most of the volume uplift while protecting margin.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Case Study (cleaned)  |  30 Dec 2013 – 16 Nov 2016  |  Simulated data, one product, single retail store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by Year and Seasonality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Sales by Year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37360"/>
          <a:ext cx="5394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371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Daily Sales by Day of Week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309360" y="1737360"/>
          <a:ext cx="5394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Saturdays generate the highest average daily sales (~R279k) and Sundays/Tuesdays the lowest — weekend traffic runs roughly 25% above the weekday average, but comes with thinner margins.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Case Study (cleaned)  |  30 Dec 2013 – 16 Nov 2016  |  Simulated data, one product, single retail store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vs Quantity Relationship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1,053 trading days — price and volume move in opposite directions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78638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49640" y="15544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0" y="16916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-0.62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686800" y="219456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Quantity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negative — higher price, fewer units sold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549640" y="315468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0" y="32918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+0.64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686800" y="379476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Gross Profit 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positive — higher prices protect margin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549640" y="484632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visible cluster of red (promotional) points sits in the lower-price / higher-quantity region, consistent with the elasticity findings.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Case Study (cleaned)  |  30 Dec 2013 – 16 Nov 2016  |  Simulated data, one product, single retail store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Promotional vs Non-Promotional Days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 — 128 promotional days vs 925 non-promotional days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Price (R)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3566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315968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Daily Qty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315968" y="1783080"/>
          <a:ext cx="3566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8174736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Gross Profit %</a:t>
            </a:r>
            <a:endParaRPr lang="en-US" sz="1300" dirty="0"/>
          </a:p>
        </p:txBody>
      </p:sp>
      <p:graphicFrame>
        <p:nvGraphicFramePr>
          <p:cNvPr id="9" name="Chart 2" descr=""/>
          <p:cNvGraphicFramePr/>
          <p:nvPr/>
        </p:nvGraphicFramePr>
        <p:xfrm>
          <a:off x="8174736" y="1783080"/>
          <a:ext cx="3566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58064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128 promotional days average 67% more units sold per day than the 925 non-promotional days, at a 6% lower price — but average gross profit % flips from +0.04% (non-promo, roughly breakeven) to -7.5% (promo). This reinforces the same recommendation: current promotional pricing is too deep for its own volume gains to pay for.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Case Study (cleaned)  |  30 Dec 2013 – 16 Nov 2016  |  Simulated data, one product, single retail store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26317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7830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shallower promotional discounts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21945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half the current depth (e.g. ~5-7% instead of 10-15%) is likely to retain most of the volume uplift while protecting margin.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3017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Elasticity supports the shift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342900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 between -5.3 and -14.3 shows demand is highly responsive — a smaller price cut should still drive a strong sales lift.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2976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4251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Momentum is already positive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46634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is the first year with a positive average margin, with 4 of the last 5 months profitable — pricing discipline is already improving.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6172200"/>
            <a:ext cx="20116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Kagiso Matenchi  |  Sales Performance Dashboard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2026-07-27T09:50:21Z</dcterms:created>
  <dcterms:modified xsi:type="dcterms:W3CDTF">2026-07-27T09:50:21Z</dcterms:modified>
</cp:coreProperties>
</file>